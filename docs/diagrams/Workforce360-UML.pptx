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59f1994e224dba" /><Relationship Type="http://schemas.openxmlformats.org/officeDocument/2006/relationships/extended-properties" Target="/docProps/app.xml" Id="R2fc295d94e604cd1" /><Relationship Type="http://schemas.openxmlformats.org/officeDocument/2006/relationships/officeDocument" Target="/ppt/presentation.xml" Id="R82d092ba489449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f256a3ab54a58"/>
  </p:sldMasterIdLst>
  <p:notesMasterIdLst>
    <p:notesMasterId xmlns:r="http://schemas.openxmlformats.org/officeDocument/2006/relationships" r:id="Rac4e09e2f66041e9"/>
  </p:notesMasterIdLst>
  <p:sldIdLst>
    <p:sldId xmlns:r="http://schemas.openxmlformats.org/officeDocument/2006/relationships" id="256" r:id="R39f4a2cb8c2c4c2e"/>
    <p:sldId xmlns:r="http://schemas.openxmlformats.org/officeDocument/2006/relationships" id="257" r:id="R6d9a891d5bbe4a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4087cb69cb4a33" /><Relationship Type="http://schemas.openxmlformats.org/officeDocument/2006/relationships/slideMaster" Target="/ppt/slideMasters/slideMaster1.xml" Id="R588f256a3ab54a58" /><Relationship Type="http://schemas.openxmlformats.org/officeDocument/2006/relationships/notesMaster" Target="/ppt/notesMasters/notesMaster1.xml" Id="Rac4e09e2f66041e9" /><Relationship Type="http://schemas.openxmlformats.org/officeDocument/2006/relationships/presProps" Target="/ppt/presProps.xml" Id="Rcd95f489f0bc4469" /><Relationship Type="http://schemas.openxmlformats.org/officeDocument/2006/relationships/tableStyles" Target="/ppt/tableStyles.xml" Id="Rb28e43a2769f477d" /><Relationship Type="http://schemas.openxmlformats.org/officeDocument/2006/relationships/slide" Target="/ppt/slides/slide1.xml" Id="R39f4a2cb8c2c4c2e" /><Relationship Type="http://schemas.openxmlformats.org/officeDocument/2006/relationships/slide" Target="/ppt/slides/slide2.xml" Id="R6d9a891d5bbe4a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2e38c8860942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b78a487f994cb1" /><Relationship Type="http://schemas.openxmlformats.org/officeDocument/2006/relationships/notesMaster" Target="/ppt/notesMasters/notesMaster1.xml" Id="Rcbc61054aa9c46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b9374269741eb" /><Relationship Type="http://schemas.openxmlformats.org/officeDocument/2006/relationships/notesMaster" Target="/ppt/notesMasters/notesMaster1.xml" Id="R6bc712db0515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workforce360/urls.py, workforce360/settings.py, webapp/views.py, backend/models.py, backend/db.py, and backend/services/. This is an editable component diagram. The app uses Django for HTTP/session handling and SQLAlchemy services with the existing SQLite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backend/models.py, backend/db.py, backend/services/gate.py, backend/services/canteen.py, backend/services/visitors.py, and backend/services/identity.py. Solid association: CanteenTransaction.gate_entry_id references GateTransaction and is nullable. Dashed associations indicate person IDs interpreted by person_type; they are not database foreign keys.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808c2ff8049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ef1c2c7ac4d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a5b7a8af843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77ad363e343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0c513db7648a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1f9b75cd24e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CCC9BE-E3F6-42A7-AD6E-BD17107DF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84A20A-10A3-40C4-B9EB-A3CFF98167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B838FD-F5A2-4EE8-8F29-258F68760D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80EF67-3EE3-44FE-8186-7EDD3E9402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A1FC86-06F2-41A4-93E4-12D6D9F7CF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65BFC0-AF45-4F83-BD9D-0B14CC020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F10AD9-800A-4AEA-93A3-15A5772A16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ABA667-CE15-4748-BC30-588ECC7908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A5B09E-73B4-4762-8115-0131C759F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980576-4467-41F0-BC06-958F8E605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a5953763e24d29" /><Relationship Type="http://schemas.openxmlformats.org/officeDocument/2006/relationships/slideLayout" Target="/ppt/slideLayouts/slideLayout1.xml" Id="Red9ce6565eea417e" /><Relationship Type="http://schemas.openxmlformats.org/officeDocument/2006/relationships/slideLayout" Target="/ppt/slideLayouts/slideLayout2.xml" Id="R1c73472764624a95" /><Relationship Type="http://schemas.openxmlformats.org/officeDocument/2006/relationships/slideLayout" Target="/ppt/slideLayouts/slideLayout3.xml" Id="Rc4b8d624203442b3" /><Relationship Type="http://schemas.openxmlformats.org/officeDocument/2006/relationships/slideLayout" Target="/ppt/slideLayouts/slideLayout4.xml" Id="R574b446b50054d0f" /><Relationship Type="http://schemas.openxmlformats.org/officeDocument/2006/relationships/slideLayout" Target="/ppt/slideLayouts/slideLayout5.xml" Id="R9fc0bb6b15ee43ac" /><Relationship Type="http://schemas.openxmlformats.org/officeDocument/2006/relationships/slideLayout" Target="/ppt/slideLayouts/slideLayout6.xml" Id="R233943484bd84b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9ce6565eea417e"/>
    <p:sldLayoutId xmlns:r="http://schemas.openxmlformats.org/officeDocument/2006/relationships" id="2147483650" r:id="R1c73472764624a95"/>
    <p:sldLayoutId xmlns:r="http://schemas.openxmlformats.org/officeDocument/2006/relationships" id="2147483651" r:id="Rc4b8d624203442b3"/>
    <p:sldLayoutId xmlns:r="http://schemas.openxmlformats.org/officeDocument/2006/relationships" id="2147483652" r:id="R574b446b50054d0f"/>
    <p:sldLayoutId xmlns:r="http://schemas.openxmlformats.org/officeDocument/2006/relationships" id="2147483653" r:id="R9fc0bb6b15ee43ac"/>
    <p:sldLayoutId xmlns:r="http://schemas.openxmlformats.org/officeDocument/2006/relationships" id="2147483654" r:id="R233943484bd84b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7b6c92d824ba1" /><Relationship Type="http://schemas.openxmlformats.org/officeDocument/2006/relationships/notesSlide" Target="/ppt/notesSlides/notesSlide1.xml" Id="Rb9306ee389e546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7d7f42ef34fd4" /><Relationship Type="http://schemas.openxmlformats.org/officeDocument/2006/relationships/notesSlide" Target="/ppt/notesSlides/notesSlide2.xml" Id="R4fe1b854ea2240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99C097-F460-4469-BC46-D394094C186D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6048375" y="4343400"/>
            <a:ext cx="476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941A5"/>
            </a:solidFill>
            <a:prstDash val="dash"/>
            <a:head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3AD82D-05CE-4928-BABA-A1677EA07DDF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45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60000"/>
            </a:solidFill>
            <a:prstDash val="solid"/>
            <a:head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0D2228-1EC4-42EA-A3FD-CD02034EC16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0485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60000"/>
            </a:solidFill>
            <a:prstDash val="solid"/>
            <a:head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7A5FC-2A0B-41FA-A42C-0791F166E55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625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60000"/>
            </a:solidFill>
            <a:prstDash val="solid"/>
            <a:head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465FF-03BD-49C1-931C-9648DF9C46B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765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60000"/>
            </a:solidFill>
            <a:prstDash val="solid"/>
            <a:headEnd type="triangle" w="sm" len="sm"/>
          </a:ln>
        </p:spPr>
      </p:cxnSp>
      <p:sp>
        <p:nvSpPr>
          <p:cNvPr id="40" name="abb-red-top-rule">
            <a:extLst xmlns:a="http://schemas.openxmlformats.org/drawingml/2006/main">
              <a:ext uri="{FF2B5EF4-FFF2-40B4-BE49-F238E27FC236}">
                <a16:creationId xmlns:a16="http://schemas.microsoft.com/office/drawing/2014/main" id="{FB45B9EA-C9BB-4D4B-BFBE-4E2247BA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6B4436-9D76-4370-9B27-EEDA8CC6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ABB Workforce360 architecture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7DBB8C-F200-42C2-B69F-EE5629FA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Local browser app with Django HTTP handling and the retained SQLite workforce domain</a:t>
            </a:r>
          </a:p>
        </p:txBody>
      </p:sp>
      <p:sp>
        <p:nvSpPr>
          <p:cNvPr id="4" name="browser-ui">
            <a:extLst xmlns:a="http://schemas.openxmlformats.org/drawingml/2006/main">
              <a:ext uri="{FF2B5EF4-FFF2-40B4-BE49-F238E27FC236}">
                <a16:creationId xmlns:a16="http://schemas.microsoft.com/office/drawing/2014/main" id="{2B04C594-641E-42C8-BA33-4191FB69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28850"/>
            <a:ext cx="2000250" cy="2114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5" name="browser-ui-header-band">
            <a:extLst xmlns:a="http://schemas.openxmlformats.org/drawingml/2006/main">
              <a:ext uri="{FF2B5EF4-FFF2-40B4-BE49-F238E27FC236}">
                <a16:creationId xmlns:a16="http://schemas.microsoft.com/office/drawing/2014/main" id="{1EBE898D-25C1-4C6D-81BE-2A5CEA5B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38375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0">
            <a:solidFill>
              <a:srgbClr val="EAF4FA"/>
            </a:solidFill>
            <a:prstDash val="solid"/>
          </a:ln>
        </p:spPr>
      </p:sp>
      <p:sp>
        <p:nvSpPr>
          <p:cNvPr id="6" name="browser-ui-accent">
            <a:extLst xmlns:a="http://schemas.openxmlformats.org/drawingml/2006/main">
              <a:ext uri="{FF2B5EF4-FFF2-40B4-BE49-F238E27FC236}">
                <a16:creationId xmlns:a16="http://schemas.microsoft.com/office/drawing/2014/main" id="{7DA57981-B004-4478-B0DC-19158AB4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38375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6A8"/>
          </a:solidFill>
          <a:ln xmlns:a="http://schemas.openxmlformats.org/drawingml/2006/main" w="0">
            <a:solidFill>
              <a:srgbClr val="1476A8"/>
            </a:solidFill>
            <a:prstDash val="solid"/>
          </a:ln>
        </p:spPr>
      </p:sp>
      <p:sp>
        <p:nvSpPr>
          <p:cNvPr id="7" name="browser-ui-title">
            <a:extLst xmlns:a="http://schemas.openxmlformats.org/drawingml/2006/main">
              <a:ext uri="{FF2B5EF4-FFF2-40B4-BE49-F238E27FC236}">
                <a16:creationId xmlns:a16="http://schemas.microsoft.com/office/drawing/2014/main" id="{CF36FC9D-AD3E-4BCD-B44F-C135826E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Browser UI</a:t>
            </a:r>
          </a:p>
        </p:txBody>
      </p:sp>
      <p:sp>
        <p:nvSpPr>
          <p:cNvPr id="8" name="browser-ui-responsibilities">
            <a:extLst xmlns:a="http://schemas.openxmlformats.org/drawingml/2006/main">
              <a:ext uri="{FF2B5EF4-FFF2-40B4-BE49-F238E27FC236}">
                <a16:creationId xmlns:a16="http://schemas.microsoft.com/office/drawing/2014/main" id="{7B329FD8-76F0-44C6-95D5-D140493E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695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Django templates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JavaScript + CSS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Camera and barcode input</a:t>
            </a:r>
          </a:p>
        </p:txBody>
      </p:sp>
      <p:sp>
        <p:nvSpPr>
          <p:cNvPr id="9" name="django-layer">
            <a:extLst xmlns:a="http://schemas.openxmlformats.org/drawingml/2006/main">
              <a:ext uri="{FF2B5EF4-FFF2-40B4-BE49-F238E27FC236}">
                <a16:creationId xmlns:a16="http://schemas.microsoft.com/office/drawing/2014/main" id="{ACEFC3AB-8F0C-455F-A591-B2E57E7A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28850"/>
            <a:ext cx="2000250" cy="2114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10" name="django-layer-header-band">
            <a:extLst xmlns:a="http://schemas.openxmlformats.org/drawingml/2006/main">
              <a:ext uri="{FF2B5EF4-FFF2-40B4-BE49-F238E27FC236}">
                <a16:creationId xmlns:a16="http://schemas.microsoft.com/office/drawing/2014/main" id="{43589510-1399-488E-A4DE-07F422D6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38375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11" name="django-layer-accent">
            <a:extLst xmlns:a="http://schemas.openxmlformats.org/drawingml/2006/main">
              <a:ext uri="{FF2B5EF4-FFF2-40B4-BE49-F238E27FC236}">
                <a16:creationId xmlns:a16="http://schemas.microsoft.com/office/drawing/2014/main" id="{787C90DE-9DF6-4129-A741-A30CD3F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38375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B"/>
          </a:solidFill>
          <a:ln xmlns:a="http://schemas.openxmlformats.org/drawingml/2006/main" w="0">
            <a:solidFill>
              <a:srgbClr val="34445B"/>
            </a:solidFill>
            <a:prstDash val="solid"/>
          </a:ln>
        </p:spPr>
      </p:sp>
      <p:sp>
        <p:nvSpPr>
          <p:cNvPr id="12" name="django-layer-title">
            <a:extLst xmlns:a="http://schemas.openxmlformats.org/drawingml/2006/main">
              <a:ext uri="{FF2B5EF4-FFF2-40B4-BE49-F238E27FC236}">
                <a16:creationId xmlns:a16="http://schemas.microsoft.com/office/drawing/2014/main" id="{A6AB15B3-C73D-4A52-8089-4F635D26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Django web layer</a:t>
            </a:r>
          </a:p>
        </p:txBody>
      </p:sp>
      <p:sp>
        <p:nvSpPr>
          <p:cNvPr id="13" name="django-layer-responsibilities">
            <a:extLst xmlns:a="http://schemas.openxmlformats.org/drawingml/2006/main">
              <a:ext uri="{FF2B5EF4-FFF2-40B4-BE49-F238E27FC236}">
                <a16:creationId xmlns:a16="http://schemas.microsoft.com/office/drawing/2014/main" id="{CC6ECE46-3B7F-4744-9B2D-9FA62BBF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695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URL routes and views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Sessions and CSRF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ADMIN / GATE / CANTEEN checks</a:t>
            </a:r>
          </a:p>
        </p:txBody>
      </p:sp>
      <p:sp>
        <p:nvSpPr>
          <p:cNvPr id="14" name="domain-services">
            <a:extLst xmlns:a="http://schemas.openxmlformats.org/drawingml/2006/main">
              <a:ext uri="{FF2B5EF4-FFF2-40B4-BE49-F238E27FC236}">
                <a16:creationId xmlns:a16="http://schemas.microsoft.com/office/drawing/2014/main" id="{E2E1DF2B-2460-4FD3-8534-D4B3F3D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28850"/>
            <a:ext cx="2000250" cy="2114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15" name="domain-services-header-band">
            <a:extLst xmlns:a="http://schemas.openxmlformats.org/drawingml/2006/main">
              <a:ext uri="{FF2B5EF4-FFF2-40B4-BE49-F238E27FC236}">
                <a16:creationId xmlns:a16="http://schemas.microsoft.com/office/drawing/2014/main" id="{F6BEA38C-CC7E-49A0-A5F6-8A724E94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38375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FFF0F0"/>
            </a:solidFill>
            <a:prstDash val="solid"/>
          </a:ln>
        </p:spPr>
      </p:sp>
      <p:sp>
        <p:nvSpPr>
          <p:cNvPr id="16" name="domain-services-accent">
            <a:extLst xmlns:a="http://schemas.openxmlformats.org/drawingml/2006/main">
              <a:ext uri="{FF2B5EF4-FFF2-40B4-BE49-F238E27FC236}">
                <a16:creationId xmlns:a16="http://schemas.microsoft.com/office/drawing/2014/main" id="{E31FB9D3-BBDF-48F7-84B3-A2AE5147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38375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17" name="domain-services-title">
            <a:extLst xmlns:a="http://schemas.openxmlformats.org/drawingml/2006/main">
              <a:ext uri="{FF2B5EF4-FFF2-40B4-BE49-F238E27FC236}">
                <a16:creationId xmlns:a16="http://schemas.microsoft.com/office/drawing/2014/main" id="{C4D45AE6-E6D5-40BF-A46B-16CEC8F6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62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Domain services</a:t>
            </a:r>
          </a:p>
        </p:txBody>
      </p:sp>
      <p:sp>
        <p:nvSpPr>
          <p:cNvPr id="18" name="domain-services-responsibilities">
            <a:extLst xmlns:a="http://schemas.openxmlformats.org/drawingml/2006/main">
              <a:ext uri="{FF2B5EF4-FFF2-40B4-BE49-F238E27FC236}">
                <a16:creationId xmlns:a16="http://schemas.microsoft.com/office/drawing/2014/main" id="{383F83E4-4509-46B2-9DDC-EC57405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95600"/>
            <a:ext cx="1695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Worker and visitor IDs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Gate entry / exit rules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Canteen eligibility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Photo checks and card PDFs</a:t>
            </a:r>
          </a:p>
        </p:txBody>
      </p:sp>
      <p:sp>
        <p:nvSpPr>
          <p:cNvPr id="19" name="sqlalchemy-layer">
            <a:extLst xmlns:a="http://schemas.openxmlformats.org/drawingml/2006/main">
              <a:ext uri="{FF2B5EF4-FFF2-40B4-BE49-F238E27FC236}">
                <a16:creationId xmlns:a16="http://schemas.microsoft.com/office/drawing/2014/main" id="{A1D63B2D-FDC1-4070-8965-1F7D3152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2000250" cy="2114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20" name="sqlalchemy-layer-header-band">
            <a:extLst xmlns:a="http://schemas.openxmlformats.org/drawingml/2006/main">
              <a:ext uri="{FF2B5EF4-FFF2-40B4-BE49-F238E27FC236}">
                <a16:creationId xmlns:a16="http://schemas.microsoft.com/office/drawing/2014/main" id="{178B14C7-A039-4189-8589-17A12799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38375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solidFill>
              <a:srgbClr val="EAF6F0"/>
            </a:solidFill>
            <a:prstDash val="solid"/>
          </a:ln>
        </p:spPr>
      </p:sp>
      <p:sp>
        <p:nvSpPr>
          <p:cNvPr id="21" name="sqlalchemy-layer-accent">
            <a:extLst xmlns:a="http://schemas.openxmlformats.org/drawingml/2006/main">
              <a:ext uri="{FF2B5EF4-FFF2-40B4-BE49-F238E27FC236}">
                <a16:creationId xmlns:a16="http://schemas.microsoft.com/office/drawing/2014/main" id="{0B2BE3D0-9B0B-4E4A-AD85-F6D871A2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38375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15A"/>
          </a:solidFill>
          <a:ln xmlns:a="http://schemas.openxmlformats.org/drawingml/2006/main" w="0">
            <a:solidFill>
              <a:srgbClr val="18815A"/>
            </a:solidFill>
            <a:prstDash val="solid"/>
          </a:ln>
        </p:spPr>
      </p:sp>
      <p:sp>
        <p:nvSpPr>
          <p:cNvPr id="22" name="sqlalchemy-layer-title">
            <a:extLst xmlns:a="http://schemas.openxmlformats.org/drawingml/2006/main">
              <a:ext uri="{FF2B5EF4-FFF2-40B4-BE49-F238E27FC236}">
                <a16:creationId xmlns:a16="http://schemas.microsoft.com/office/drawing/2014/main" id="{77C97E9E-CD32-4FBF-AAED-01FAA3DE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62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SQLAlchemy</a:t>
            </a:r>
          </a:p>
        </p:txBody>
      </p:sp>
      <p:sp>
        <p:nvSpPr>
          <p:cNvPr id="23" name="sqlalchemy-layer-responsibilities">
            <a:extLst xmlns:a="http://schemas.openxmlformats.org/drawingml/2006/main">
              <a:ext uri="{FF2B5EF4-FFF2-40B4-BE49-F238E27FC236}">
                <a16:creationId xmlns:a16="http://schemas.microsoft.com/office/drawing/2014/main" id="{0F56505D-1D5A-4F29-AFF6-E82FCEB4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95600"/>
            <a:ext cx="1695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Mapped data models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Query and transaction sessions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Additive SQLite compatibility</a:t>
            </a:r>
          </a:p>
        </p:txBody>
      </p:sp>
      <p:sp>
        <p:nvSpPr>
          <p:cNvPr id="24" name="sqlite-store">
            <a:extLst xmlns:a="http://schemas.openxmlformats.org/drawingml/2006/main">
              <a:ext uri="{FF2B5EF4-FFF2-40B4-BE49-F238E27FC236}">
                <a16:creationId xmlns:a16="http://schemas.microsoft.com/office/drawing/2014/main" id="{DE0988A2-B779-427F-869D-2B4C1777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28850"/>
            <a:ext cx="2000250" cy="2114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25" name="sqlite-store-header-band">
            <a:extLst xmlns:a="http://schemas.openxmlformats.org/drawingml/2006/main">
              <a:ext uri="{FF2B5EF4-FFF2-40B4-BE49-F238E27FC236}">
                <a16:creationId xmlns:a16="http://schemas.microsoft.com/office/drawing/2014/main" id="{4B573724-EBC6-4597-BDBF-E929802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38375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8"/>
          </a:solidFill>
          <a:ln xmlns:a="http://schemas.openxmlformats.org/drawingml/2006/main" w="0">
            <a:solidFill>
              <a:srgbClr val="FFF5E8"/>
            </a:solidFill>
            <a:prstDash val="solid"/>
          </a:ln>
        </p:spPr>
      </p:sp>
      <p:sp>
        <p:nvSpPr>
          <p:cNvPr id="26" name="sqlite-store-accent">
            <a:extLst xmlns:a="http://schemas.openxmlformats.org/drawingml/2006/main">
              <a:ext uri="{FF2B5EF4-FFF2-40B4-BE49-F238E27FC236}">
                <a16:creationId xmlns:a16="http://schemas.microsoft.com/office/drawing/2014/main" id="{7BB20D52-879B-4CB5-BBB9-29BE7D0A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38375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512"/>
          </a:solidFill>
          <a:ln xmlns:a="http://schemas.openxmlformats.org/drawingml/2006/main" w="0">
            <a:solidFill>
              <a:srgbClr val="A96512"/>
            </a:solidFill>
            <a:prstDash val="solid"/>
          </a:ln>
        </p:spPr>
      </p:sp>
      <p:sp>
        <p:nvSpPr>
          <p:cNvPr id="27" name="sqlite-store-title">
            <a:extLst xmlns:a="http://schemas.openxmlformats.org/drawingml/2006/main">
              <a:ext uri="{FF2B5EF4-FFF2-40B4-BE49-F238E27FC236}">
                <a16:creationId xmlns:a16="http://schemas.microsoft.com/office/drawing/2014/main" id="{1171F408-0922-47A7-85F6-1AEFC272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28" name="sqlite-store-responsibilities">
            <a:extLst xmlns:a="http://schemas.openxmlformats.org/drawingml/2006/main">
              <a:ext uri="{FF2B5EF4-FFF2-40B4-BE49-F238E27FC236}">
                <a16:creationId xmlns:a16="http://schemas.microsoft.com/office/drawing/2014/main" id="{8703EF5A-78A6-4042-94F4-CD5F22F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95600"/>
            <a:ext cx="16954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Workers and visitors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Admins and sequences</a:t>
            </a:r>
          </a:p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Gate and canteen history</a:t>
            </a:r>
          </a:p>
        </p:txBody>
      </p:sp>
      <p:sp>
        <p:nvSpPr>
          <p:cNvPr id="33" name="persistent-file-assets">
            <a:extLst xmlns:a="http://schemas.openxmlformats.org/drawingml/2006/main">
              <a:ext uri="{FF2B5EF4-FFF2-40B4-BE49-F238E27FC236}">
                <a16:creationId xmlns:a16="http://schemas.microsoft.com/office/drawing/2014/main" id="{CC6E914D-1C70-47DF-9AD3-CAB16F9C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57150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34" name="persistent-file-assets-accent">
            <a:extLst xmlns:a="http://schemas.openxmlformats.org/drawingml/2006/main">
              <a:ext uri="{FF2B5EF4-FFF2-40B4-BE49-F238E27FC236}">
                <a16:creationId xmlns:a16="http://schemas.microsoft.com/office/drawing/2014/main" id="{F27C1264-8C2F-4056-BC35-03784343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94347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A5"/>
          </a:solidFill>
          <a:ln xmlns:a="http://schemas.openxmlformats.org/drawingml/2006/main" w="0">
            <a:solidFill>
              <a:srgbClr val="6941A5"/>
            </a:solidFill>
            <a:prstDash val="solid"/>
          </a:ln>
        </p:spPr>
      </p:sp>
      <p:sp>
        <p:nvSpPr>
          <p:cNvPr id="35" name="file-assets-title">
            <a:extLst xmlns:a="http://schemas.openxmlformats.org/drawingml/2006/main">
              <a:ext uri="{FF2B5EF4-FFF2-40B4-BE49-F238E27FC236}">
                <a16:creationId xmlns:a16="http://schemas.microsoft.com/office/drawing/2014/main" id="{1B25AC91-C360-43F5-AB91-FB07CC8F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482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Persistent file assets</a:t>
            </a:r>
          </a:p>
        </p:txBody>
      </p:sp>
      <p:sp>
        <p:nvSpPr>
          <p:cNvPr id="36" name="file-assets-description">
            <a:extLst xmlns:a="http://schemas.openxmlformats.org/drawingml/2006/main">
              <a:ext uri="{FF2B5EF4-FFF2-40B4-BE49-F238E27FC236}">
                <a16:creationId xmlns:a16="http://schemas.microsoft.com/office/drawing/2014/main" id="{60207E40-BAFC-4825-AE27-BF609182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625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Worker / visitor photos  ·  ABB logo  ·  optional card fonts</a:t>
            </a:r>
          </a:p>
        </p:txBody>
      </p:sp>
      <p:sp>
        <p:nvSpPr>
          <p:cNvPr id="38" name="file-assets-link-label">
            <a:extLst xmlns:a="http://schemas.openxmlformats.org/drawingml/2006/main">
              <a:ext uri="{FF2B5EF4-FFF2-40B4-BE49-F238E27FC236}">
                <a16:creationId xmlns:a16="http://schemas.microsoft.com/office/drawing/2014/main" id="{DD654C4A-44E7-477A-9FCC-624CE665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941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41A5"/>
                </a:solidFill>
                <a:latin typeface="Arial"/>
                <a:ea typeface="Arial"/>
                <a:cs typeface="Arial"/>
              </a:rPr>
              <a:t>photo storage and card assets</a:t>
            </a:r>
          </a:p>
        </p:txBody>
      </p:sp>
      <p:sp>
        <p:nvSpPr>
          <p:cNvPr id="39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DE192C05-8B49-46C6-B22A-88135E4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local runserver validates secrets and initializes missing legacy tables. It does not replace the workforce database.</a:t>
            </a:r>
          </a:p>
        </p:txBody>
      </p:sp>
    </p:spTree>
    <p:extLst>
      <p:ext uri="{BB962C8B-B14F-4D97-AF65-F5344CB8AC3E}">
        <p14:creationId xmlns:p14="http://schemas.microsoft.com/office/powerpoint/2010/main" val="3665914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661C2D-B95C-4770-BFE1-A10472672557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953250" y="49053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815A"/>
            </a:solidFill>
            <a:prstDash val="solid"/>
            <a:head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2FCE4E-5759-4517-8738-1652A3C9369F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5214938" y="3048000"/>
            <a:ext cx="214313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4445B"/>
            </a:solidFill>
            <a:prstDash val="solid"/>
            <a:head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5165F-558E-4F90-B737-10CB2554CAC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3067050" y="4905375"/>
            <a:ext cx="40957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941A5"/>
            </a:solidFill>
            <a:prstDash val="dash"/>
            <a:head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F499B7-C042-4B96-8A73-5EA47D29987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067050" y="2471738"/>
            <a:ext cx="409575" cy="2433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476A8"/>
            </a:solidFill>
            <a:prstDash val="dash"/>
            <a:headEnd type="triangle" w="sm" len="sm"/>
          </a:ln>
        </p:spPr>
      </p:cxnSp>
      <p:sp>
        <p:nvSpPr>
          <p:cNvPr id="40" name="abb-red-top-rule">
            <a:extLst xmlns:a="http://schemas.openxmlformats.org/drawingml/2006/main">
              <a:ext uri="{FF2B5EF4-FFF2-40B4-BE49-F238E27FC236}">
                <a16:creationId xmlns:a16="http://schemas.microsoft.com/office/drawing/2014/main" id="{64532EE5-14BC-4542-BF71-73BA19DF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418B94-9A96-46F0-A2B0-75E738B3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UML domain model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7C0E00-A016-489F-B531-65830111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SQLAlchemy records and the key links used by gate and canteen workflows</a:t>
            </a:r>
          </a:p>
        </p:txBody>
      </p:sp>
      <p:sp>
        <p:nvSpPr>
          <p:cNvPr id="4" name="class-Worker">
            <a:extLst xmlns:a="http://schemas.openxmlformats.org/drawingml/2006/main">
              <a:ext uri="{FF2B5EF4-FFF2-40B4-BE49-F238E27FC236}">
                <a16:creationId xmlns:a16="http://schemas.microsoft.com/office/drawing/2014/main" id="{CD1DB604-07D0-4F46-9B2D-4174BAA6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2571750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5" name="class-Worker-header">
            <a:extLst xmlns:a="http://schemas.openxmlformats.org/drawingml/2006/main">
              <a:ext uri="{FF2B5EF4-FFF2-40B4-BE49-F238E27FC236}">
                <a16:creationId xmlns:a16="http://schemas.microsoft.com/office/drawing/2014/main" id="{BD298CBC-DD60-4A53-8325-674D2746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47825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0">
            <a:solidFill>
              <a:srgbClr val="EAF4FA"/>
            </a:solidFill>
            <a:prstDash val="solid"/>
          </a:ln>
        </p:spPr>
      </p:sp>
      <p:sp>
        <p:nvSpPr>
          <p:cNvPr id="6" name="class-Worker-accent">
            <a:extLst xmlns:a="http://schemas.openxmlformats.org/drawingml/2006/main">
              <a:ext uri="{FF2B5EF4-FFF2-40B4-BE49-F238E27FC236}">
                <a16:creationId xmlns:a16="http://schemas.microsoft.com/office/drawing/2014/main" id="{DE0E7C89-BAB2-4831-97E0-5F0E6E95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47825"/>
            <a:ext cx="47625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6A8"/>
          </a:solidFill>
          <a:ln xmlns:a="http://schemas.openxmlformats.org/drawingml/2006/main" w="0">
            <a:solidFill>
              <a:srgbClr val="1476A8"/>
            </a:solidFill>
            <a:prstDash val="solid"/>
          </a:ln>
        </p:spPr>
      </p:sp>
      <p:sp>
        <p:nvSpPr>
          <p:cNvPr id="7" name="class-Worker-name">
            <a:extLst xmlns:a="http://schemas.openxmlformats.org/drawingml/2006/main">
              <a:ext uri="{FF2B5EF4-FFF2-40B4-BE49-F238E27FC236}">
                <a16:creationId xmlns:a16="http://schemas.microsoft.com/office/drawing/2014/main" id="{F9DC06D8-F4D1-49CF-954C-D7D6CABB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335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8" name="class-Worker-attributes">
            <a:extLst xmlns:a="http://schemas.openxmlformats.org/drawingml/2006/main">
              <a:ext uri="{FF2B5EF4-FFF2-40B4-BE49-F238E27FC236}">
                <a16:creationId xmlns:a16="http://schemas.microsoft.com/office/drawing/2014/main" id="{616AAD3C-7A09-4F06-9C2D-1E49029F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id: int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worker_id: unique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worker_no: unique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name, status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Aadhaar: encrypted + last4</a:t>
            </a:r>
          </a:p>
        </p:txBody>
      </p:sp>
      <p:sp>
        <p:nvSpPr>
          <p:cNvPr id="9" name="class-Visitor">
            <a:extLst xmlns:a="http://schemas.openxmlformats.org/drawingml/2006/main">
              <a:ext uri="{FF2B5EF4-FFF2-40B4-BE49-F238E27FC236}">
                <a16:creationId xmlns:a16="http://schemas.microsoft.com/office/drawing/2014/main" id="{1ECC3033-E28B-4553-BD7E-0E104A6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2571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10" name="class-Visitor-header">
            <a:extLst xmlns:a="http://schemas.openxmlformats.org/drawingml/2006/main">
              <a:ext uri="{FF2B5EF4-FFF2-40B4-BE49-F238E27FC236}">
                <a16:creationId xmlns:a16="http://schemas.microsoft.com/office/drawing/2014/main" id="{48C5148B-1F3A-4874-9B45-FD87CBC4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29075"/>
            <a:ext cx="2552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A"/>
          </a:solidFill>
          <a:ln xmlns:a="http://schemas.openxmlformats.org/drawingml/2006/main" w="0">
            <a:solidFill>
              <a:srgbClr val="F2EDFA"/>
            </a:solidFill>
            <a:prstDash val="solid"/>
          </a:ln>
        </p:spPr>
      </p:sp>
      <p:sp>
        <p:nvSpPr>
          <p:cNvPr id="11" name="class-Visitor-accent">
            <a:extLst xmlns:a="http://schemas.openxmlformats.org/drawingml/2006/main">
              <a:ext uri="{FF2B5EF4-FFF2-40B4-BE49-F238E27FC236}">
                <a16:creationId xmlns:a16="http://schemas.microsoft.com/office/drawing/2014/main" id="{2565BC80-3FCA-431E-8C9D-F30FF4F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029075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A5"/>
          </a:solidFill>
          <a:ln xmlns:a="http://schemas.openxmlformats.org/drawingml/2006/main" w="0">
            <a:solidFill>
              <a:srgbClr val="6941A5"/>
            </a:solidFill>
            <a:prstDash val="solid"/>
          </a:ln>
        </p:spPr>
      </p:sp>
      <p:sp>
        <p:nvSpPr>
          <p:cNvPr id="12" name="class-Visitor-name">
            <a:extLst xmlns:a="http://schemas.openxmlformats.org/drawingml/2006/main">
              <a:ext uri="{FF2B5EF4-FFF2-40B4-BE49-F238E27FC236}">
                <a16:creationId xmlns:a16="http://schemas.microsoft.com/office/drawing/2014/main" id="{4AA3ED4C-3593-490C-82BC-A903946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14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Visitor</a:t>
            </a:r>
          </a:p>
        </p:txBody>
      </p:sp>
      <p:sp>
        <p:nvSpPr>
          <p:cNvPr id="13" name="class-Visitor-attributes">
            <a:extLst xmlns:a="http://schemas.openxmlformats.org/drawingml/2006/main">
              <a:ext uri="{FF2B5EF4-FFF2-40B4-BE49-F238E27FC236}">
                <a16:creationId xmlns:a16="http://schemas.microsoft.com/office/drawing/2014/main" id="{9697E481-4594-4D29-A7ED-7F82AEA0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id: int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visitor_id / visitor_no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name, status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expiration_timestamp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created_by: Admin?</a:t>
            </a:r>
          </a:p>
        </p:txBody>
      </p:sp>
      <p:sp>
        <p:nvSpPr>
          <p:cNvPr id="14" name="class-Admin">
            <a:extLst xmlns:a="http://schemas.openxmlformats.org/drawingml/2006/main">
              <a:ext uri="{FF2B5EF4-FFF2-40B4-BE49-F238E27FC236}">
                <a16:creationId xmlns:a16="http://schemas.microsoft.com/office/drawing/2014/main" id="{1ABBABD7-F7AA-455B-A444-2EFCF794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266700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15" name="class-Admin-header">
            <a:extLst xmlns:a="http://schemas.openxmlformats.org/drawingml/2006/main">
              <a:ext uri="{FF2B5EF4-FFF2-40B4-BE49-F238E27FC236}">
                <a16:creationId xmlns:a16="http://schemas.microsoft.com/office/drawing/2014/main" id="{8B7C7539-8D51-4A6E-9A40-694563AD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533525"/>
            <a:ext cx="2647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16" name="class-Admin-accent">
            <a:extLst xmlns:a="http://schemas.openxmlformats.org/drawingml/2006/main">
              <a:ext uri="{FF2B5EF4-FFF2-40B4-BE49-F238E27FC236}">
                <a16:creationId xmlns:a16="http://schemas.microsoft.com/office/drawing/2014/main" id="{7BAD869A-6B67-4225-AEED-F3173747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5335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B"/>
          </a:solidFill>
          <a:ln xmlns:a="http://schemas.openxmlformats.org/drawingml/2006/main" w="0">
            <a:solidFill>
              <a:srgbClr val="34445B"/>
            </a:solidFill>
            <a:prstDash val="solid"/>
          </a:ln>
        </p:spPr>
      </p:sp>
      <p:sp>
        <p:nvSpPr>
          <p:cNvPr id="17" name="class-Admin-name">
            <a:extLst xmlns:a="http://schemas.openxmlformats.org/drawingml/2006/main">
              <a:ext uri="{FF2B5EF4-FFF2-40B4-BE49-F238E27FC236}">
                <a16:creationId xmlns:a16="http://schemas.microsoft.com/office/drawing/2014/main" id="{220CEC87-B10E-4C7D-9CF3-CFDF66D9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192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8" name="class-Admin-attributes">
            <a:extLst xmlns:a="http://schemas.openxmlformats.org/drawingml/2006/main">
              <a:ext uri="{FF2B5EF4-FFF2-40B4-BE49-F238E27FC236}">
                <a16:creationId xmlns:a16="http://schemas.microsoft.com/office/drawing/2014/main" id="{FCAEFF44-41A7-4961-BBC9-F2DCD9FE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238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id: int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username: unique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password_hash: Argon2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role: ADMIN | GATE | CANTEEN</a:t>
            </a:r>
          </a:p>
        </p:txBody>
      </p:sp>
      <p:sp>
        <p:nvSpPr>
          <p:cNvPr id="19" name="class-Sequence">
            <a:extLst xmlns:a="http://schemas.openxmlformats.org/drawingml/2006/main">
              <a:ext uri="{FF2B5EF4-FFF2-40B4-BE49-F238E27FC236}">
                <a16:creationId xmlns:a16="http://schemas.microsoft.com/office/drawing/2014/main" id="{F04E65EE-7BF7-45F6-8E51-94350048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27146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20" name="class-Sequence-header">
            <a:extLst xmlns:a="http://schemas.openxmlformats.org/drawingml/2006/main">
              <a:ext uri="{FF2B5EF4-FFF2-40B4-BE49-F238E27FC236}">
                <a16:creationId xmlns:a16="http://schemas.microsoft.com/office/drawing/2014/main" id="{9A32672E-2E0F-4F59-BD00-BFF29482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33525"/>
            <a:ext cx="2695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8"/>
          </a:solidFill>
          <a:ln xmlns:a="http://schemas.openxmlformats.org/drawingml/2006/main" w="0">
            <a:solidFill>
              <a:srgbClr val="FFF5E8"/>
            </a:solidFill>
            <a:prstDash val="solid"/>
          </a:ln>
        </p:spPr>
      </p:sp>
      <p:sp>
        <p:nvSpPr>
          <p:cNvPr id="21" name="class-Sequence-accent">
            <a:extLst xmlns:a="http://schemas.openxmlformats.org/drawingml/2006/main">
              <a:ext uri="{FF2B5EF4-FFF2-40B4-BE49-F238E27FC236}">
                <a16:creationId xmlns:a16="http://schemas.microsoft.com/office/drawing/2014/main" id="{B55C38B2-9C5E-4312-B19B-DE4F4B0F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335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6512"/>
          </a:solidFill>
          <a:ln xmlns:a="http://schemas.openxmlformats.org/drawingml/2006/main" w="0">
            <a:solidFill>
              <a:srgbClr val="A96512"/>
            </a:solidFill>
            <a:prstDash val="solid"/>
          </a:ln>
        </p:spPr>
      </p:sp>
      <p:sp>
        <p:nvSpPr>
          <p:cNvPr id="22" name="class-Sequence-name">
            <a:extLst xmlns:a="http://schemas.openxmlformats.org/drawingml/2006/main">
              <a:ext uri="{FF2B5EF4-FFF2-40B4-BE49-F238E27FC236}">
                <a16:creationId xmlns:a16="http://schemas.microsoft.com/office/drawing/2014/main" id="{E3CBBB33-7C4A-48D1-8D9D-B1063966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Sequence</a:t>
            </a:r>
          </a:p>
        </p:txBody>
      </p:sp>
      <p:sp>
        <p:nvSpPr>
          <p:cNvPr id="23" name="class-Sequence-attributes">
            <a:extLst xmlns:a="http://schemas.openxmlformats.org/drawingml/2006/main">
              <a:ext uri="{FF2B5EF4-FFF2-40B4-BE49-F238E27FC236}">
                <a16:creationId xmlns:a16="http://schemas.microsoft.com/office/drawing/2014/main" id="{51A85429-1C9B-4598-B6BC-3FB5BA95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47875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name: worker_no / visitor_no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value: next number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Business number allocator</a:t>
            </a:r>
          </a:p>
        </p:txBody>
      </p:sp>
      <p:sp>
        <p:nvSpPr>
          <p:cNvPr id="24" name="class-GateTransaction">
            <a:extLst xmlns:a="http://schemas.openxmlformats.org/drawingml/2006/main">
              <a:ext uri="{FF2B5EF4-FFF2-40B4-BE49-F238E27FC236}">
                <a16:creationId xmlns:a16="http://schemas.microsoft.com/office/drawing/2014/main" id="{F30500B6-7DCB-4E31-9E54-9F1F3FE5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3476625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25" name="class-GateTransaction-header">
            <a:extLst xmlns:a="http://schemas.openxmlformats.org/drawingml/2006/main">
              <a:ext uri="{FF2B5EF4-FFF2-40B4-BE49-F238E27FC236}">
                <a16:creationId xmlns:a16="http://schemas.microsoft.com/office/drawing/2014/main" id="{BDEFE84F-22FA-46E9-A61D-C1441B35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3457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0">
            <a:solidFill>
              <a:srgbClr val="FFF0F0"/>
            </a:solidFill>
            <a:prstDash val="solid"/>
          </a:ln>
        </p:spPr>
      </p:sp>
      <p:sp>
        <p:nvSpPr>
          <p:cNvPr id="26" name="class-GateTransaction-accent">
            <a:extLst xmlns:a="http://schemas.openxmlformats.org/drawingml/2006/main">
              <a:ext uri="{FF2B5EF4-FFF2-40B4-BE49-F238E27FC236}">
                <a16:creationId xmlns:a16="http://schemas.microsoft.com/office/drawing/2014/main" id="{741F85B8-827F-43ED-88B7-0F44DBC8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solidFill>
              <a:srgbClr val="E60000"/>
            </a:solidFill>
            <a:prstDash val="solid"/>
          </a:ln>
        </p:spPr>
      </p:sp>
      <p:sp>
        <p:nvSpPr>
          <p:cNvPr id="27" name="class-GateTransaction-name">
            <a:extLst xmlns:a="http://schemas.openxmlformats.org/drawingml/2006/main">
              <a:ext uri="{FF2B5EF4-FFF2-40B4-BE49-F238E27FC236}">
                <a16:creationId xmlns:a16="http://schemas.microsoft.com/office/drawing/2014/main" id="{7AAB0E70-9312-4DD4-B3D2-DC131FAF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GateTransaction</a:t>
            </a:r>
          </a:p>
        </p:txBody>
      </p:sp>
      <p:sp>
        <p:nvSpPr>
          <p:cNvPr id="28" name="class-GateTransaction-attributes">
            <a:extLst xmlns:a="http://schemas.openxmlformats.org/drawingml/2006/main">
              <a:ext uri="{FF2B5EF4-FFF2-40B4-BE49-F238E27FC236}">
                <a16:creationId xmlns:a16="http://schemas.microsoft.com/office/drawing/2014/main" id="{522F87D7-5837-47D8-A880-3B6F93FD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81500"/>
            <a:ext cx="3190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id: int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event_date, scan_timestamp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person_id + person_type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event_type: ENTRY / EXIT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validation_result, rejection_reason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operator_id: Admin?</a:t>
            </a:r>
          </a:p>
        </p:txBody>
      </p:sp>
      <p:sp>
        <p:nvSpPr>
          <p:cNvPr id="29" name="class-CanteenTransaction">
            <a:extLst xmlns:a="http://schemas.openxmlformats.org/drawingml/2006/main">
              <a:ext uri="{FF2B5EF4-FFF2-40B4-BE49-F238E27FC236}">
                <a16:creationId xmlns:a16="http://schemas.microsoft.com/office/drawing/2014/main" id="{966BD483-0E66-4BBF-A660-FC915CE4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57625"/>
            <a:ext cx="3667125" cy="2095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30" name="class-CanteenTransaction-header">
            <a:extLst xmlns:a="http://schemas.openxmlformats.org/drawingml/2006/main">
              <a:ext uri="{FF2B5EF4-FFF2-40B4-BE49-F238E27FC236}">
                <a16:creationId xmlns:a16="http://schemas.microsoft.com/office/drawing/2014/main" id="{A0AC99B0-EB2F-429A-A5FC-7AFE4C53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36480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solidFill>
              <a:srgbClr val="EAF6F0"/>
            </a:solidFill>
            <a:prstDash val="solid"/>
          </a:ln>
        </p:spPr>
      </p:sp>
      <p:sp>
        <p:nvSpPr>
          <p:cNvPr id="31" name="class-CanteenTransaction-accent">
            <a:extLst xmlns:a="http://schemas.openxmlformats.org/drawingml/2006/main">
              <a:ext uri="{FF2B5EF4-FFF2-40B4-BE49-F238E27FC236}">
                <a16:creationId xmlns:a16="http://schemas.microsoft.com/office/drawing/2014/main" id="{994A8253-9303-46A2-BE2D-F01300A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47625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15A"/>
          </a:solidFill>
          <a:ln xmlns:a="http://schemas.openxmlformats.org/drawingml/2006/main" w="0">
            <a:solidFill>
              <a:srgbClr val="18815A"/>
            </a:solidFill>
            <a:prstDash val="solid"/>
          </a:ln>
        </p:spPr>
      </p:sp>
      <p:sp>
        <p:nvSpPr>
          <p:cNvPr id="32" name="class-CanteenTransaction-name">
            <a:extLst xmlns:a="http://schemas.openxmlformats.org/drawingml/2006/main">
              <a:ext uri="{FF2B5EF4-FFF2-40B4-BE49-F238E27FC236}">
                <a16:creationId xmlns:a16="http://schemas.microsoft.com/office/drawing/2014/main" id="{F5378A85-75AD-43EC-BD70-BBB493B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52875"/>
            <a:ext cx="3381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CanteenTransaction</a:t>
            </a:r>
          </a:p>
        </p:txBody>
      </p:sp>
      <p:sp>
        <p:nvSpPr>
          <p:cNvPr id="33" name="class-CanteenTransaction-attributes">
            <a:extLst xmlns:a="http://schemas.openxmlformats.org/drawingml/2006/main">
              <a:ext uri="{FF2B5EF4-FFF2-40B4-BE49-F238E27FC236}">
                <a16:creationId xmlns:a16="http://schemas.microsoft.com/office/drawing/2014/main" id="{650C0FED-DF6C-4E9B-8797-DFB6DCC4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381500"/>
            <a:ext cx="33813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id: int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worker_id + person_type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business_date, scan_timestamp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scan_result, rejection_reason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gate_entry_id: GateTransaction?</a:t>
            </a:r>
          </a:p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155"/>
                </a:solidFill>
                <a:latin typeface="Arial"/>
                <a:ea typeface="Arial"/>
                <a:cs typeface="Arial"/>
              </a:rPr>
              <a:t>operator_id: Admin?</a:t>
            </a:r>
          </a:p>
        </p:txBody>
      </p:sp>
      <p:sp>
        <p:nvSpPr>
          <p:cNvPr id="38" name="gate-canteen-link-label">
            <a:extLst xmlns:a="http://schemas.openxmlformats.org/drawingml/2006/main">
              <a:ext uri="{FF2B5EF4-FFF2-40B4-BE49-F238E27FC236}">
                <a16:creationId xmlns:a16="http://schemas.microsoft.com/office/drawing/2014/main" id="{9DC189CB-9ECE-4C08-9D89-F9E045EB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67225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18815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815A"/>
                </a:solidFill>
                <a:latin typeface="Arial"/>
                <a:ea typeface="Arial"/>
                <a:cs typeface="Arial"/>
              </a:rPr>
              <a:t>gate_entry_id (nullable FK)</a:t>
            </a:r>
          </a:p>
        </p:txBody>
      </p:sp>
      <p:sp>
        <p:nvSpPr>
          <p:cNvPr id="39" name="domain-model-note">
            <a:extLst xmlns:a="http://schemas.openxmlformats.org/drawingml/2006/main">
              <a:ext uri="{FF2B5EF4-FFF2-40B4-BE49-F238E27FC236}">
                <a16:creationId xmlns:a16="http://schemas.microsoft.com/office/drawing/2014/main" id="{809B2436-B9B3-4AA4-9CD9-367A05B5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Polymorphic person IDs are logical links, not foreign keys. Admin references use operator_id / created_by; Sequence allocates worker and visitor numbers.</a:t>
            </a:r>
          </a:p>
        </p:txBody>
      </p:sp>
    </p:spTree>
    <p:extLst>
      <p:ext uri="{BB962C8B-B14F-4D97-AF65-F5344CB8AC3E}">
        <p14:creationId xmlns:p14="http://schemas.microsoft.com/office/powerpoint/2010/main" val="2129241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2026-10-28T22:20:29.3400000Z</dcterms:created>
  <dcterms:modified xsi:type="dcterms:W3CDTF">2026-10-28T22:20:29.3400000Z</dcterms:modified>
</coreProperties>
</file>